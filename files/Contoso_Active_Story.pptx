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E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5522"/>
                </a:solidFill>
              </a:rPr>
              <a:t>CONTOSO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One day in</a:t>
            </a:r>
          </a:p>
          <a:p>
            <a:r>
              <a:rPr sz="3200" b="1">
                <a:solidFill>
                  <a:srgbClr val="FFFFFF"/>
                </a:solidFill>
              </a:rPr>
              <a:t>Operations,</a:t>
            </a:r>
          </a:p>
          <a:p>
            <a:r>
              <a:rPr sz="3200" b="1">
                <a:solidFill>
                  <a:srgbClr val="E25522"/>
                </a:solidFill>
              </a:rPr>
              <a:t>compressed by Copilot</a:t>
            </a:r>
          </a:p>
          <a:p>
            <a:pPr>
              <a:spcBef>
                <a:spcPts val="2800"/>
              </a:spcBef>
            </a:pPr>
            <a:r>
              <a:rPr sz="1600" b="1">
                <a:solidFill>
                  <a:srgbClr val="FFFFFF"/>
                </a:solidFill>
              </a:rPr>
              <a:t>Indra Wijaya</a:t>
            </a:r>
          </a:p>
          <a:p>
            <a:r>
              <a:rPr sz="1200">
                <a:solidFill>
                  <a:srgbClr val="C4CBD4"/>
                </a:solidFill>
              </a:rPr>
              <a:t>Regional Operations Manager</a:t>
            </a:r>
          </a:p>
          <a:p>
            <a:r>
              <a:rPr sz="1200">
                <a:solidFill>
                  <a:srgbClr val="C4CBD4"/>
                </a:solidFill>
              </a:rPr>
              <a:t>Contoso Active · CA PIM 1</a:t>
            </a:r>
          </a:p>
          <a:p>
            <a:pPr>
              <a:spcBef>
                <a:spcPts val="2000"/>
              </a:spcBef>
            </a:pPr>
            <a:r>
              <a:rPr sz="1300" i="1">
                <a:solidFill>
                  <a:srgbClr val="FFFFFF"/>
                </a:solidFill>
              </a:rPr>
              <a:t>It's 1 April 2026.</a:t>
            </a:r>
          </a:p>
          <a:p>
            <a:r>
              <a:rPr sz="1200">
                <a:solidFill>
                  <a:srgbClr val="E2E8F0"/>
                </a:solidFill>
              </a:rPr>
              <a:t>Q1 just closed. CA PIM 1 landed at 87.8% of the 5.4B IDR target — 12.2% short. The COO wants a brief by Friday: what happened, why, what we're doing about it. Yesterday this was a 10-hour day. Today, Copilot makes it 90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48640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</a:rPr>
              <a:t>The 90-minute Operations flow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1234440"/>
            <a:ext cx="594360" cy="59436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5331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21615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937"/>
                </a:solidFill>
              </a:rPr>
              <a:t>Copilot Chat</a:t>
            </a:r>
            <a:r>
              <a:rPr sz="900" b="1">
                <a:solidFill>
                  <a:srgbClr val="6B7280"/>
                </a:solidFill>
              </a:rPr>
              <a:t>    Basic</a:t>
            </a:r>
          </a:p>
          <a:p>
            <a:r>
              <a:rPr sz="1050">
                <a:solidFill>
                  <a:srgbClr val="6B7280"/>
                </a:solidFill>
              </a:rPr>
              <a:t>Research market + summarise emails &amp; Teams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2011680"/>
            <a:ext cx="594360" cy="59436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3055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99339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937"/>
                </a:solidFill>
              </a:rPr>
              <a:t>Word Agent</a:t>
            </a:r>
            <a:r>
              <a:rPr sz="900" b="1">
                <a:solidFill>
                  <a:srgbClr val="6B7280"/>
                </a:solidFill>
              </a:rPr>
              <a:t>    Basic</a:t>
            </a:r>
          </a:p>
          <a:p>
            <a:r>
              <a:rPr sz="1050">
                <a:solidFill>
                  <a:srgbClr val="6B7280"/>
                </a:solidFill>
              </a:rPr>
              <a:t>Draft the Store Action Plan memo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2788920"/>
            <a:ext cx="594360" cy="59436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90779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77063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937"/>
                </a:solidFill>
              </a:rPr>
              <a:t>PowerPoint Agent</a:t>
            </a:r>
            <a:r>
              <a:rPr sz="900" b="1">
                <a:solidFill>
                  <a:srgbClr val="6B7280"/>
                </a:solidFill>
              </a:rPr>
              <a:t>    Basic</a:t>
            </a:r>
          </a:p>
          <a:p>
            <a:r>
              <a:rPr sz="1050">
                <a:solidFill>
                  <a:srgbClr val="6B7280"/>
                </a:solidFill>
              </a:rPr>
              <a:t>Turn the memo into a COO briefing deck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3566160"/>
            <a:ext cx="594360" cy="59436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68503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54787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937"/>
                </a:solidFill>
              </a:rPr>
              <a:t>Excel Agent</a:t>
            </a:r>
            <a:r>
              <a:rPr sz="900" b="1">
                <a:solidFill>
                  <a:srgbClr val="6B7280"/>
                </a:solidFill>
              </a:rPr>
              <a:t>    Basic</a:t>
            </a:r>
          </a:p>
          <a:p>
            <a:r>
              <a:rPr sz="1050">
                <a:solidFill>
                  <a:srgbClr val="6B7280"/>
                </a:solidFill>
              </a:rPr>
              <a:t>Analyse the March DSR — anomalies, MTD, YoY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0" y="4343400"/>
            <a:ext cx="594360" cy="594360"/>
          </a:xfrm>
          <a:prstGeom prst="ellipse">
            <a:avLst/>
          </a:prstGeom>
          <a:solidFill>
            <a:srgbClr val="E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46227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432511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937"/>
                </a:solidFill>
              </a:rPr>
              <a:t>Cowork · Researcher · Analyst · Image · Pages</a:t>
            </a:r>
            <a:r>
              <a:rPr sz="900" b="1">
                <a:solidFill>
                  <a:srgbClr val="E25522"/>
                </a:solidFill>
              </a:rPr>
              <a:t>    Premium</a:t>
            </a:r>
          </a:p>
          <a:p>
            <a:r>
              <a:rPr sz="1050">
                <a:solidFill>
                  <a:srgbClr val="6B7280"/>
                </a:solidFill>
              </a:rPr>
              <a:t>Forecast Q2, build dashboard sheet, hero visual, share Page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0" y="5120640"/>
            <a:ext cx="594360" cy="594360"/>
          </a:xfrm>
          <a:prstGeom prst="ellipse">
            <a:avLst/>
          </a:prstGeom>
          <a:solidFill>
            <a:srgbClr val="E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523951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510235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937"/>
                </a:solidFill>
              </a:rPr>
              <a:t>Cowork — HTML dashboard</a:t>
            </a:r>
            <a:r>
              <a:rPr sz="900" b="1">
                <a:solidFill>
                  <a:srgbClr val="E25522"/>
                </a:solidFill>
              </a:rPr>
              <a:t>    Premium</a:t>
            </a:r>
          </a:p>
          <a:p>
            <a:r>
              <a:rPr sz="1050">
                <a:solidFill>
                  <a:srgbClr val="6B7280"/>
                </a:solidFill>
              </a:rPr>
              <a:t>Generate a live exec dashboard from the DSR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217920"/>
            <a:ext cx="7223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626364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2937"/>
                </a:solidFill>
              </a:rPr>
              <a:t>Microsoft 365 Copilot · Basic (included) + Premium (Cowork, Researcher, Analyst, Plan in Excel)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