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109728"/>
          </a:xfrm>
          <a:prstGeom prst="rect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3657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25522"/>
                </a:solidFill>
              </a:rPr>
              <a:t>CONTOSO 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One day in</a:t>
            </a:r>
          </a:p>
          <a:p>
            <a:r>
              <a:rPr sz="3200" b="1">
                <a:solidFill>
                  <a:srgbClr val="FFFFFF"/>
                </a:solidFill>
              </a:rPr>
              <a:t>Operations,</a:t>
            </a:r>
          </a:p>
          <a:p>
            <a:r>
              <a:rPr sz="3200" b="1">
                <a:solidFill>
                  <a:srgbClr val="E25522"/>
                </a:solidFill>
              </a:rPr>
              <a:t>compressed by Copilot</a:t>
            </a:r>
          </a:p>
          <a:p>
            <a:pPr>
              <a:spcBef>
                <a:spcPts val="2800"/>
              </a:spcBef>
            </a:pPr>
            <a:r>
              <a:rPr sz="1600" b="1">
                <a:solidFill>
                  <a:srgbClr val="FFFFFF"/>
                </a:solidFill>
              </a:rPr>
              <a:t>Indra Wijaya</a:t>
            </a:r>
          </a:p>
          <a:p>
            <a:r>
              <a:rPr sz="1200">
                <a:solidFill>
                  <a:srgbClr val="C4CBD4"/>
                </a:solidFill>
              </a:rPr>
              <a:t>Regional Operations Manager</a:t>
            </a:r>
          </a:p>
          <a:p>
            <a:r>
              <a:rPr sz="1200">
                <a:solidFill>
                  <a:srgbClr val="C4CBD4"/>
                </a:solidFill>
              </a:rPr>
              <a:t>Contoso Active · CA PIM 1</a:t>
            </a:r>
          </a:p>
          <a:p>
            <a:pPr>
              <a:spcBef>
                <a:spcPts val="2000"/>
              </a:spcBef>
            </a:pPr>
            <a:r>
              <a:rPr sz="1300" i="1">
                <a:solidFill>
                  <a:srgbClr val="FFFFFF"/>
                </a:solidFill>
              </a:rPr>
              <a:t>It's 1 April 2026.</a:t>
            </a:r>
          </a:p>
          <a:p>
            <a:r>
              <a:rPr sz="1200">
                <a:solidFill>
                  <a:srgbClr val="E2E8F0"/>
                </a:solidFill>
              </a:rPr>
              <a:t>Q1 just closed. CA PIM 1 landed at 87.8% of the 5.4B IDR target — 12.2% short. The COO wants a brief by Friday: what happened, why, what we're doing about it. Yesterday this was a 10-hour day. Today, Copilot makes it 90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548640"/>
            <a:ext cx="7223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F2937"/>
                </a:solidFill>
              </a:rPr>
              <a:t>The 90-minute Operations flow</a:t>
            </a:r>
          </a:p>
        </p:txBody>
      </p:sp>
      <p:sp>
        <p:nvSpPr>
          <p:cNvPr id="8" name="Oval 7"/>
          <p:cNvSpPr/>
          <p:nvPr/>
        </p:nvSpPr>
        <p:spPr>
          <a:xfrm>
            <a:off x="4572000" y="123444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5331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21615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Copilot Chat</a:t>
            </a:r>
            <a:r>
              <a:rPr sz="900" b="1">
                <a:solidFill>
                  <a:srgbClr val="6B7280"/>
                </a:solidFill>
              </a:rPr>
              <a:t>    Basic</a:t>
            </a:r>
          </a:p>
          <a:p>
            <a:r>
              <a:rPr sz="1050">
                <a:solidFill>
                  <a:srgbClr val="6B7280"/>
                </a:solidFill>
              </a:rPr>
              <a:t>Get the lay of the land — research Q1 sportswear trends, summarise emails &amp; Teams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0" y="201168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Copilot Chat</a:t>
            </a:r>
          </a:p>
          <a:p>
            <a:r>
              <a:rPr sz="1050">
                <a:solidFill>
                  <a:srgbClr val="6B7280"/>
                </a:solidFill>
              </a:rPr>
              <a:t>Get the lay of the land — research Q1 sportswear trends, summarise emails &amp;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3055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99339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WXP Agents · Edit with Copilot</a:t>
            </a:r>
            <a:r>
              <a:rPr sz="900" b="1">
                <a:solidFill>
                  <a:srgbClr val="6B7280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Edit the DSR, draft the Store Action Plan, build the COO deck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0" y="278892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779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77063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Researcher</a:t>
            </a:r>
            <a:r>
              <a:rPr sz="900" b="1">
                <a:solidFill>
                  <a:srgbClr val="6B7280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Benchmark Jakarta flagships — Nike, Adidas, Decathlon with citations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0" y="356616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8503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54787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Analyst · DSR</a:t>
            </a:r>
            <a:r>
              <a:rPr sz="900" b="1">
                <a:solidFill>
                  <a:srgbClr val="6B7280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Forecast month-end, z-score anomalies, board-ready summary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0" y="4343400"/>
            <a:ext cx="594360" cy="594360"/>
          </a:xfrm>
          <a:prstGeom prst="ellipse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6227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32511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Cowork · DSR</a:t>
            </a:r>
            <a:r>
              <a:rPr sz="900" b="1">
                <a:solidFill>
                  <a:srgbClr val="E25522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Ship a live HTML dashboard with slicers — date, week, channel, anomaly — charts react live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0" y="5120640"/>
            <a:ext cx="594360" cy="594360"/>
          </a:xfrm>
          <a:prstGeom prst="ellipse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523951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510235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Agent Builder</a:t>
            </a:r>
            <a:r>
              <a:rPr sz="900" b="1">
                <a:solidFill>
                  <a:srgbClr val="E25522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Build the Store Ops Coach — grounded on DSR, action plan, research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6217920"/>
            <a:ext cx="72237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60" y="6263640"/>
            <a:ext cx="7040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F2937"/>
                </a:solidFill>
              </a:rPr>
              <a:t>Microsoft 365 Copilot · Chat · Edit with Copilot (W/X/P) · Researcher · Analyst · Cowork · Agent Builder · Operations Immersion · 90 minutes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